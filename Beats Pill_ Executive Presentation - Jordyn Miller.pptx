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8229600" cx="14630400"/>
  <p:notesSz cx="8229600" cy="14630400"/>
  <p:embeddedFontLst>
    <p:embeddedFont>
      <p:font typeface="Heebo"/>
      <p:regular r:id="rId13"/>
      <p:bold r:id="rId14"/>
    </p:embeddedFont>
    <p:embeddedFont>
      <p:font typeface="Montserrat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Heebo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regular.fntdata"/><Relationship Id="rId14" Type="http://schemas.openxmlformats.org/officeDocument/2006/relationships/font" Target="fonts/Heebo-bold.fntdata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1.png"/><Relationship Id="rId6" Type="http://schemas.openxmlformats.org/officeDocument/2006/relationships/image" Target="../media/image17.png"/><Relationship Id="rId7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5.png"/><Relationship Id="rId4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27.png"/><Relationship Id="rId6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10" Type="http://schemas.openxmlformats.org/officeDocument/2006/relationships/image" Target="../media/image30.png"/><Relationship Id="rId9" Type="http://schemas.openxmlformats.org/officeDocument/2006/relationships/image" Target="../media/image24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28.png"/><Relationship Id="rId8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4.png"/><Relationship Id="rId4" Type="http://schemas.openxmlformats.org/officeDocument/2006/relationships/image" Target="../media/image32.png"/><Relationship Id="rId5" Type="http://schemas.openxmlformats.org/officeDocument/2006/relationships/image" Target="../media/image31.png"/><Relationship Id="rId6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" name="Google Shape;4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1"/>
          <p:cNvSpPr/>
          <p:nvPr/>
        </p:nvSpPr>
        <p:spPr>
          <a:xfrm>
            <a:off x="793790" y="3054429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4450"/>
              <a:buFont typeface="Montserrat"/>
              <a:buNone/>
            </a:pPr>
            <a:r>
              <a:rPr b="0" i="0" lang="en-US" sz="4450" u="none" cap="none" strike="noStrik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Beats Pill: Executive Presentation</a:t>
            </a:r>
            <a:endParaRPr b="0" i="0" sz="4450" u="none" cap="none" strike="noStrike"/>
          </a:p>
        </p:txBody>
      </p:sp>
      <p:sp>
        <p:nvSpPr>
          <p:cNvPr id="50" name="Google Shape;50;p11"/>
          <p:cNvSpPr/>
          <p:nvPr/>
        </p:nvSpPr>
        <p:spPr>
          <a:xfrm>
            <a:off x="793790" y="4812149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"/>
              <a:buNone/>
            </a:pPr>
            <a:r>
              <a:rPr b="0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Customer Review Analysis  |  Jordyn Miller  |  March 12, 2026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/>
          <p:nvPr/>
        </p:nvSpPr>
        <p:spPr>
          <a:xfrm>
            <a:off x="803315" y="521851"/>
            <a:ext cx="3277791" cy="294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1850"/>
              <a:buFont typeface="Montserrat"/>
              <a:buNone/>
            </a:pPr>
            <a:r>
              <a:rPr b="0" i="0" lang="en-US" sz="1850" u="none" cap="none" strike="noStrik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Strategic Recommendation</a:t>
            </a:r>
            <a:endParaRPr b="0" i="0" sz="1850" u="none" cap="none" strike="noStrike"/>
          </a:p>
        </p:txBody>
      </p:sp>
      <p:sp>
        <p:nvSpPr>
          <p:cNvPr id="57" name="Google Shape;57;p12"/>
          <p:cNvSpPr/>
          <p:nvPr/>
        </p:nvSpPr>
        <p:spPr>
          <a:xfrm>
            <a:off x="803315" y="879515"/>
            <a:ext cx="13023771" cy="1179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3700"/>
              <a:buFont typeface="Montserrat"/>
              <a:buNone/>
            </a:pPr>
            <a:r>
              <a:rPr b="0" i="0" lang="en-US" sz="3700" u="none" cap="none" strike="noStrik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Launch with Targeted Improvements to Win the Category</a:t>
            </a:r>
            <a:endParaRPr b="0" i="0" sz="3700" u="none" cap="none" strike="noStrike"/>
          </a:p>
        </p:txBody>
      </p:sp>
      <p:pic>
        <p:nvPicPr>
          <p:cNvPr descr="preencoded.png" id="58" name="Google Shape;5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315" y="2586806"/>
            <a:ext cx="6278880" cy="347313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2"/>
          <p:cNvSpPr/>
          <p:nvPr/>
        </p:nvSpPr>
        <p:spPr>
          <a:xfrm>
            <a:off x="5078736" y="3823218"/>
            <a:ext cx="1266749" cy="243074"/>
          </a:xfrm>
          <a:prstGeom prst="roundRect">
            <a:avLst>
              <a:gd fmla="val 73732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6319" y="3875370"/>
            <a:ext cx="138770" cy="13877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2"/>
          <p:cNvSpPr/>
          <p:nvPr/>
        </p:nvSpPr>
        <p:spPr>
          <a:xfrm>
            <a:off x="5341303" y="3854587"/>
            <a:ext cx="926600" cy="18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DCD7E5"/>
                </a:solidFill>
                <a:latin typeface="Arial"/>
                <a:ea typeface="Arial"/>
                <a:cs typeface="Arial"/>
                <a:sym typeface="Arial"/>
              </a:rPr>
              <a:t>Positive·85%</a:t>
            </a:r>
            <a:endParaRPr b="0" i="0" sz="1000" u="none" cap="none" strike="noStrike"/>
          </a:p>
        </p:txBody>
      </p:sp>
      <p:sp>
        <p:nvSpPr>
          <p:cNvPr id="62" name="Google Shape;62;p12"/>
          <p:cNvSpPr/>
          <p:nvPr/>
        </p:nvSpPr>
        <p:spPr>
          <a:xfrm>
            <a:off x="5845775" y="3854561"/>
            <a:ext cx="4221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/>
          </a:p>
        </p:txBody>
      </p:sp>
      <p:sp>
        <p:nvSpPr>
          <p:cNvPr id="63" name="Google Shape;63;p12"/>
          <p:cNvSpPr/>
          <p:nvPr/>
        </p:nvSpPr>
        <p:spPr>
          <a:xfrm>
            <a:off x="5901290" y="3854587"/>
            <a:ext cx="37178" cy="18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DCD7E5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1000" u="none" cap="none" strike="noStrike"/>
          </a:p>
        </p:txBody>
      </p:sp>
      <p:sp>
        <p:nvSpPr>
          <p:cNvPr id="64" name="Google Shape;64;p12"/>
          <p:cNvSpPr/>
          <p:nvPr/>
        </p:nvSpPr>
        <p:spPr>
          <a:xfrm>
            <a:off x="5078736" y="4132386"/>
            <a:ext cx="1170319" cy="243074"/>
          </a:xfrm>
          <a:prstGeom prst="roundRect">
            <a:avLst>
              <a:gd fmla="val 73732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56319" y="4184538"/>
            <a:ext cx="138770" cy="13877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2"/>
          <p:cNvSpPr/>
          <p:nvPr/>
        </p:nvSpPr>
        <p:spPr>
          <a:xfrm>
            <a:off x="5341303" y="4163755"/>
            <a:ext cx="830170" cy="18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DCD7E5"/>
                </a:solidFill>
                <a:latin typeface="Arial"/>
                <a:ea typeface="Arial"/>
                <a:cs typeface="Arial"/>
                <a:sym typeface="Arial"/>
              </a:rPr>
              <a:t>Neutral·9%</a:t>
            </a:r>
            <a:endParaRPr b="0" i="0" sz="1000" u="none" cap="none" strike="noStrike"/>
          </a:p>
        </p:txBody>
      </p:sp>
      <p:sp>
        <p:nvSpPr>
          <p:cNvPr id="67" name="Google Shape;67;p12"/>
          <p:cNvSpPr/>
          <p:nvPr/>
        </p:nvSpPr>
        <p:spPr>
          <a:xfrm>
            <a:off x="5828742" y="4163755"/>
            <a:ext cx="342731" cy="18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/>
          </a:p>
        </p:txBody>
      </p:sp>
      <p:sp>
        <p:nvSpPr>
          <p:cNvPr id="68" name="Google Shape;68;p12"/>
          <p:cNvSpPr/>
          <p:nvPr/>
        </p:nvSpPr>
        <p:spPr>
          <a:xfrm>
            <a:off x="5078736" y="4441554"/>
            <a:ext cx="1264038" cy="243074"/>
          </a:xfrm>
          <a:prstGeom prst="roundRect">
            <a:avLst>
              <a:gd fmla="val 73732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56319" y="4493706"/>
            <a:ext cx="138770" cy="13877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2"/>
          <p:cNvSpPr/>
          <p:nvPr/>
        </p:nvSpPr>
        <p:spPr>
          <a:xfrm>
            <a:off x="5341303" y="4472922"/>
            <a:ext cx="923889" cy="18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DCD7E5"/>
                </a:solidFill>
                <a:latin typeface="Arial"/>
                <a:ea typeface="Arial"/>
                <a:cs typeface="Arial"/>
                <a:sym typeface="Arial"/>
              </a:rPr>
              <a:t>Negative·6%</a:t>
            </a:r>
            <a:endParaRPr b="0" i="0" sz="1000" u="none" cap="none" strike="noStrike"/>
          </a:p>
        </p:txBody>
      </p:sp>
      <p:sp>
        <p:nvSpPr>
          <p:cNvPr id="71" name="Google Shape;71;p12"/>
          <p:cNvSpPr/>
          <p:nvPr/>
        </p:nvSpPr>
        <p:spPr>
          <a:xfrm>
            <a:off x="5977969" y="4472922"/>
            <a:ext cx="37177" cy="18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DCD7E5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1000" u="none" cap="none" strike="noStrike"/>
          </a:p>
        </p:txBody>
      </p:sp>
      <p:sp>
        <p:nvSpPr>
          <p:cNvPr id="72" name="Google Shape;72;p12"/>
          <p:cNvSpPr/>
          <p:nvPr/>
        </p:nvSpPr>
        <p:spPr>
          <a:xfrm>
            <a:off x="7553087" y="2435781"/>
            <a:ext cx="6281618" cy="553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450"/>
              <a:buFont typeface="Heebo"/>
              <a:buNone/>
            </a:pPr>
            <a:r>
              <a:rPr b="1" i="0" lang="en-US" sz="14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Beats achieves ~85% positive sentiment</a:t>
            </a:r>
            <a:r>
              <a:rPr b="0" i="0" lang="en-US" sz="14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, confirming strong product-market fit in a mature, competitive category.</a:t>
            </a:r>
            <a:endParaRPr b="0" i="0" sz="1450" u="none" cap="none" strike="noStrike"/>
          </a:p>
        </p:txBody>
      </p:sp>
      <p:sp>
        <p:nvSpPr>
          <p:cNvPr id="73" name="Google Shape;73;p12"/>
          <p:cNvSpPr/>
          <p:nvPr/>
        </p:nvSpPr>
        <p:spPr>
          <a:xfrm>
            <a:off x="803315" y="6342221"/>
            <a:ext cx="6433304" cy="1365409"/>
          </a:xfrm>
          <a:prstGeom prst="roundRect">
            <a:avLst>
              <a:gd fmla="val 8036" name="adj"/>
            </a:avLst>
          </a:prstGeom>
          <a:solidFill>
            <a:srgbClr val="0D0A2C">
              <a:alpha val="94902"/>
            </a:srgbClr>
          </a:solidFill>
          <a:ln cap="flat" cmpd="sng" w="22850">
            <a:solidFill>
              <a:srgbClr val="4A2C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0455" y="6342221"/>
            <a:ext cx="91440" cy="1365409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2"/>
          <p:cNvSpPr/>
          <p:nvPr/>
        </p:nvSpPr>
        <p:spPr>
          <a:xfrm>
            <a:off x="1083469" y="6553795"/>
            <a:ext cx="2801660" cy="294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850"/>
              <a:buFont typeface="Montserrat"/>
              <a:buNone/>
            </a:pPr>
            <a:r>
              <a:rPr b="0" i="0" lang="en-US" sz="1850" u="none" cap="none" strike="noStrike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Close Competitive Gaps</a:t>
            </a:r>
            <a:endParaRPr b="0" i="0" sz="1850" u="none" cap="none" strike="noStrike"/>
          </a:p>
        </p:txBody>
      </p:sp>
      <p:sp>
        <p:nvSpPr>
          <p:cNvPr id="76" name="Google Shape;76;p12"/>
          <p:cNvSpPr/>
          <p:nvPr/>
        </p:nvSpPr>
        <p:spPr>
          <a:xfrm>
            <a:off x="1083469" y="6942892"/>
            <a:ext cx="5941576" cy="553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450"/>
              <a:buFont typeface="Heebo"/>
              <a:buNone/>
            </a:pPr>
            <a:r>
              <a:rPr b="0" i="0" lang="en-US" sz="14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Improve EQ/app control, high-volume audio stability, and battery reliability.</a:t>
            </a:r>
            <a:endParaRPr b="0" i="0" sz="1450" u="none" cap="none" strike="noStrike"/>
          </a:p>
        </p:txBody>
      </p:sp>
      <p:sp>
        <p:nvSpPr>
          <p:cNvPr id="77" name="Google Shape;77;p12"/>
          <p:cNvSpPr/>
          <p:nvPr/>
        </p:nvSpPr>
        <p:spPr>
          <a:xfrm>
            <a:off x="7393662" y="6342221"/>
            <a:ext cx="6433423" cy="1365409"/>
          </a:xfrm>
          <a:prstGeom prst="roundRect">
            <a:avLst>
              <a:gd fmla="val 8036" name="adj"/>
            </a:avLst>
          </a:prstGeom>
          <a:solidFill>
            <a:srgbClr val="0D0A2C">
              <a:alpha val="94902"/>
            </a:srgbClr>
          </a:solidFill>
          <a:ln cap="flat" cmpd="sng" w="22850">
            <a:solidFill>
              <a:srgbClr val="4A2C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70802" y="6342221"/>
            <a:ext cx="91440" cy="136540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2"/>
          <p:cNvSpPr/>
          <p:nvPr/>
        </p:nvSpPr>
        <p:spPr>
          <a:xfrm>
            <a:off x="7673816" y="6553795"/>
            <a:ext cx="2359343" cy="294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850"/>
              <a:buFont typeface="Montserrat"/>
              <a:buNone/>
            </a:pPr>
            <a:r>
              <a:rPr b="0" i="0" lang="en-US" sz="1850" u="none" cap="none" strike="noStrike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Compete at the Top</a:t>
            </a:r>
            <a:endParaRPr b="0" i="0" sz="1850" u="none" cap="none" strike="noStrike"/>
          </a:p>
        </p:txBody>
      </p:sp>
      <p:sp>
        <p:nvSpPr>
          <p:cNvPr id="80" name="Google Shape;80;p12"/>
          <p:cNvSpPr/>
          <p:nvPr/>
        </p:nvSpPr>
        <p:spPr>
          <a:xfrm>
            <a:off x="7673816" y="6942892"/>
            <a:ext cx="5941695" cy="553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450"/>
              <a:buFont typeface="Heebo"/>
              <a:buNone/>
            </a:pPr>
            <a:r>
              <a:rPr b="0" i="0" lang="en-US" sz="14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With targeted improvements, Beats Pill can challenge category leaders directly.</a:t>
            </a:r>
            <a:endParaRPr b="0" i="0" sz="14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/>
          <p:nvPr/>
        </p:nvSpPr>
        <p:spPr>
          <a:xfrm>
            <a:off x="6075998" y="497443"/>
            <a:ext cx="2105978" cy="263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1650"/>
              <a:buFont typeface="Montserrat"/>
              <a:buNone/>
            </a:pPr>
            <a:r>
              <a:rPr b="0" i="0" lang="en-US" sz="1650" u="none" cap="none" strike="noStrik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Market Context</a:t>
            </a:r>
            <a:endParaRPr b="0" i="0" sz="1650" u="none" cap="none" strike="noStrike"/>
          </a:p>
        </p:txBody>
      </p:sp>
      <p:sp>
        <p:nvSpPr>
          <p:cNvPr id="88" name="Google Shape;88;p13"/>
          <p:cNvSpPr/>
          <p:nvPr/>
        </p:nvSpPr>
        <p:spPr>
          <a:xfrm>
            <a:off x="6075998" y="810697"/>
            <a:ext cx="7964805" cy="1052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3300"/>
              <a:buFont typeface="Montserrat"/>
              <a:buNone/>
            </a:pPr>
            <a:r>
              <a:rPr b="0" i="0" lang="en-US" sz="3300" u="none" cap="none" strike="noStrik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A High-Satisfaction Category Where Differentiation Matters</a:t>
            </a:r>
            <a:endParaRPr b="0" i="0" sz="3300" u="none" cap="none" strike="noStrike"/>
          </a:p>
        </p:txBody>
      </p:sp>
      <p:pic>
        <p:nvPicPr>
          <p:cNvPr descr="preencoded.png" id="89" name="Google Shape;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75998" y="2051328"/>
            <a:ext cx="7559040" cy="429671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/>
          <p:nvPr/>
        </p:nvSpPr>
        <p:spPr>
          <a:xfrm>
            <a:off x="6075998" y="6652260"/>
            <a:ext cx="7964805" cy="469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300"/>
              <a:buFont typeface="Heebo"/>
              <a:buNone/>
            </a:pPr>
            <a:r>
              <a:rPr b="0" i="0" lang="en-US" sz="130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Across </a:t>
            </a:r>
            <a:r>
              <a:rPr b="1" i="0" lang="en-US" sz="130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823 reviews</a:t>
            </a:r>
            <a:r>
              <a:rPr b="0" i="0" lang="en-US" sz="130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, overall sentiment is overwhelmingly positive — 5-star ratings dominate the category, signaling consistently strong baseline performance.</a:t>
            </a:r>
            <a:endParaRPr b="0" i="0" sz="1300" u="none" cap="none" strike="noStrike"/>
          </a:p>
        </p:txBody>
      </p:sp>
      <p:sp>
        <p:nvSpPr>
          <p:cNvPr id="91" name="Google Shape;91;p13"/>
          <p:cNvSpPr/>
          <p:nvPr/>
        </p:nvSpPr>
        <p:spPr>
          <a:xfrm>
            <a:off x="6075998" y="7262574"/>
            <a:ext cx="7964805" cy="469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300"/>
              <a:buFont typeface="Heebo"/>
              <a:buNone/>
            </a:pPr>
            <a:r>
              <a:rPr b="0" i="0" lang="en-US" sz="130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Because all major brands perform well, </a:t>
            </a:r>
            <a:r>
              <a:rPr b="1" i="0" lang="en-US" sz="130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small feature differences strongly influence brand choice.</a:t>
            </a:r>
            <a:r>
              <a:rPr b="0" i="0" lang="en-US" sz="130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 Brands win through ecosystem integration, design, durability, and audio tuning — not raw performance alone.</a:t>
            </a:r>
            <a:endParaRPr b="0" i="0" sz="130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1706694" y="907050"/>
            <a:ext cx="2707200" cy="1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1200"/>
              <a:buFont typeface="Montserrat"/>
              <a:buNone/>
            </a:pPr>
            <a:r>
              <a:rPr b="0" i="0" lang="en-US" sz="1600" u="none" cap="none" strike="noStrik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Competitive Position</a:t>
            </a:r>
            <a:endParaRPr b="0" i="0" sz="1600" u="none" cap="none" strike="noStrike"/>
          </a:p>
        </p:txBody>
      </p:sp>
      <p:sp>
        <p:nvSpPr>
          <p:cNvPr id="98" name="Google Shape;98;p14"/>
          <p:cNvSpPr/>
          <p:nvPr/>
        </p:nvSpPr>
        <p:spPr>
          <a:xfrm>
            <a:off x="2883099" y="1226238"/>
            <a:ext cx="9243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2400"/>
              <a:buFont typeface="Montserrat"/>
              <a:buNone/>
            </a:pPr>
            <a:r>
              <a:rPr b="0" i="0" lang="en-US" sz="2400" u="none" cap="none" strike="noStrik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Beats Performs Strongly, but JBL Sets the Benchmark</a:t>
            </a:r>
            <a:endParaRPr b="0" i="0" sz="2400" u="none" cap="none" strike="noStrike"/>
          </a:p>
        </p:txBody>
      </p:sp>
      <p:pic>
        <p:nvPicPr>
          <p:cNvPr descr="preencoded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7850" y="1445362"/>
            <a:ext cx="11151301" cy="467777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/>
          <p:nvPr/>
        </p:nvSpPr>
        <p:spPr>
          <a:xfrm>
            <a:off x="1460850" y="7138150"/>
            <a:ext cx="11708700" cy="9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200"/>
              <a:buFont typeface="Heebo"/>
              <a:buNone/>
            </a:pPr>
            <a:r>
              <a:rPr b="0" i="0" lang="en-US" sz="150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Beats ranks among the top brands in customer satisfaction. JBL leads with </a:t>
            </a:r>
            <a:r>
              <a:rPr b="1" i="0" lang="en-US" sz="150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~96% positive sentiment</a:t>
            </a:r>
            <a:r>
              <a:rPr b="0" i="0" lang="en-US" sz="150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 — a clear target. Sony and Bose show more mixed experiences, representing an opportunity for Beats to capture dissatisfied customers from those brands.</a:t>
            </a:r>
            <a:endParaRPr b="0" i="0" sz="1500" u="none" cap="none" strike="noStrike"/>
          </a:p>
        </p:txBody>
      </p:sp>
      <p:pic>
        <p:nvPicPr>
          <p:cNvPr descr="preencoded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55375" y="1607250"/>
            <a:ext cx="11708701" cy="5338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/>
          <p:nvPr/>
        </p:nvSpPr>
        <p:spPr>
          <a:xfrm>
            <a:off x="828913" y="1305163"/>
            <a:ext cx="2350056" cy="293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1850"/>
              <a:buFont typeface="Montserrat"/>
              <a:buNone/>
            </a:pPr>
            <a:r>
              <a:rPr b="0" i="0" lang="en-US" sz="1850" u="none" cap="none" strike="noStrik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Customer Priorities</a:t>
            </a:r>
            <a:endParaRPr b="0" i="0" sz="1850" u="none" cap="none" strike="noStrike"/>
          </a:p>
        </p:txBody>
      </p:sp>
      <p:sp>
        <p:nvSpPr>
          <p:cNvPr id="108" name="Google Shape;108;p15"/>
          <p:cNvSpPr/>
          <p:nvPr/>
        </p:nvSpPr>
        <p:spPr>
          <a:xfrm>
            <a:off x="828913" y="1661160"/>
            <a:ext cx="12972455" cy="11751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3700"/>
              <a:buFont typeface="Montserrat"/>
              <a:buNone/>
            </a:pPr>
            <a:r>
              <a:rPr b="0" i="0" lang="en-US" sz="3700" u="none" cap="none" strike="noStrik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Sound Quality, Portability, and Battery Life Drive Purchase Decisions</a:t>
            </a:r>
            <a:endParaRPr b="0" i="0" sz="3700" u="none" cap="none" strike="noStrike"/>
          </a:p>
        </p:txBody>
      </p:sp>
      <p:pic>
        <p:nvPicPr>
          <p:cNvPr descr="preencoded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913" y="3245287"/>
            <a:ext cx="6256020" cy="355605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/>
          <p:nvPr/>
        </p:nvSpPr>
        <p:spPr>
          <a:xfrm>
            <a:off x="7552015" y="3210163"/>
            <a:ext cx="6256853" cy="8251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450"/>
              <a:buFont typeface="Heebo"/>
              <a:buNone/>
            </a:pPr>
            <a:r>
              <a:rPr b="0" i="0" lang="en-US" sz="14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Customer conversations center on </a:t>
            </a:r>
            <a:r>
              <a:rPr b="1" i="0" lang="en-US" sz="14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audio performance above all else</a:t>
            </a:r>
            <a:r>
              <a:rPr b="0" i="0" lang="en-US" sz="14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 — sound quality and bass are the top two discussed features by a wide margin.</a:t>
            </a:r>
            <a:endParaRPr b="0" i="0" sz="1450" u="none" cap="none" strike="noStrike"/>
          </a:p>
        </p:txBody>
      </p:sp>
      <p:sp>
        <p:nvSpPr>
          <p:cNvPr id="111" name="Google Shape;111;p15"/>
          <p:cNvSpPr/>
          <p:nvPr/>
        </p:nvSpPr>
        <p:spPr>
          <a:xfrm>
            <a:off x="7552015" y="4175403"/>
            <a:ext cx="6256853" cy="934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450"/>
              <a:buFont typeface="Heebo"/>
              <a:buNone/>
            </a:pPr>
            <a:r>
              <a:rPr b="1" i="0" lang="en-US" sz="14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Loudness and bass</a:t>
            </a:r>
            <a:r>
              <a:rPr b="0" i="0" lang="en-US" sz="14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 strongly influence satisfaction scores</a:t>
            </a:r>
            <a:endParaRPr b="0" i="0" sz="1450" u="none" cap="none" strike="noStrike"/>
          </a:p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450"/>
              <a:buFont typeface="Heebo"/>
              <a:buNone/>
            </a:pPr>
            <a:r>
              <a:rPr b="1" i="0" lang="en-US" sz="14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Portability and durability</a:t>
            </a:r>
            <a:r>
              <a:rPr b="0" i="0" lang="en-US" sz="14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 are critical for outdoor and travel use cases</a:t>
            </a:r>
            <a:endParaRPr b="0" i="0" sz="1450" u="none" cap="none" strike="noStrike"/>
          </a:p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450"/>
              <a:buFont typeface="Heebo"/>
              <a:buNone/>
            </a:pPr>
            <a:r>
              <a:rPr b="1" i="0" lang="en-US" sz="14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Battery life</a:t>
            </a:r>
            <a:r>
              <a:rPr b="0" i="0" lang="en-US" sz="14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 expectations are elevated by mobile-first listening habits</a:t>
            </a:r>
            <a:endParaRPr b="0" i="0" sz="14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/>
          <p:nvPr/>
        </p:nvSpPr>
        <p:spPr>
          <a:xfrm>
            <a:off x="793790" y="99572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2200"/>
              <a:buFont typeface="Montserrat"/>
              <a:buNone/>
            </a:pPr>
            <a:r>
              <a:rPr b="0" i="0" lang="en-US" sz="2200" u="none" cap="none" strike="noStrik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Where Beats Wins</a:t>
            </a:r>
            <a:endParaRPr b="0" i="0" sz="2200" u="none" cap="none" strike="noStrike"/>
          </a:p>
        </p:txBody>
      </p:sp>
      <p:sp>
        <p:nvSpPr>
          <p:cNvPr id="118" name="Google Shape;118;p16"/>
          <p:cNvSpPr/>
          <p:nvPr/>
        </p:nvSpPr>
        <p:spPr>
          <a:xfrm>
            <a:off x="793790" y="1440775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4450"/>
              <a:buFont typeface="Montserrat"/>
              <a:buNone/>
            </a:pPr>
            <a:r>
              <a:rPr b="0" i="0" lang="en-US" sz="4450" u="none" cap="none" strike="noStrik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Beats Differentiates Through Design and Ecosystem Integration</a:t>
            </a:r>
            <a:endParaRPr b="0" i="0" sz="4450" u="none" cap="none" strike="noStrike"/>
          </a:p>
        </p:txBody>
      </p:sp>
      <p:pic>
        <p:nvPicPr>
          <p:cNvPr descr="preencoded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198495"/>
            <a:ext cx="1767840" cy="109251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/>
          <p:nvPr/>
        </p:nvSpPr>
        <p:spPr>
          <a:xfrm>
            <a:off x="793790" y="4574500"/>
            <a:ext cx="3048000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2200"/>
              <a:buFont typeface="Montserrat"/>
              <a:buNone/>
            </a:pPr>
            <a:r>
              <a:rPr b="0" i="0" lang="en-US" sz="2200" u="none" cap="none" strike="noStrike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Premium Audio Performance</a:t>
            </a:r>
            <a:endParaRPr b="0" i="0" sz="2200" u="none" cap="none" strike="noStrike"/>
          </a:p>
        </p:txBody>
      </p:sp>
      <p:sp>
        <p:nvSpPr>
          <p:cNvPr id="121" name="Google Shape;121;p16"/>
          <p:cNvSpPr/>
          <p:nvPr/>
        </p:nvSpPr>
        <p:spPr>
          <a:xfrm>
            <a:off x="793790" y="5419249"/>
            <a:ext cx="3048000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"/>
              <a:buNone/>
            </a:pPr>
            <a:r>
              <a:rPr b="0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Strong bass and clear, full sound output for its compact size — a core differentiator in the category.</a:t>
            </a:r>
            <a:endParaRPr b="0" i="0" sz="1750" u="none" cap="none" strike="noStrike"/>
          </a:p>
        </p:txBody>
      </p:sp>
      <p:pic>
        <p:nvPicPr>
          <p:cNvPr descr="preencoded.png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25278" y="3198495"/>
            <a:ext cx="1767840" cy="109251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/>
          <p:nvPr/>
        </p:nvSpPr>
        <p:spPr>
          <a:xfrm>
            <a:off x="4125278" y="4574500"/>
            <a:ext cx="3048119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2200"/>
              <a:buFont typeface="Montserrat"/>
              <a:buNone/>
            </a:pPr>
            <a:r>
              <a:rPr b="0" i="0" lang="en-US" sz="2200" u="none" cap="none" strike="noStrike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Apple Ecosystem Integration</a:t>
            </a:r>
            <a:endParaRPr b="0" i="0" sz="2200" u="none" cap="none" strike="noStrike"/>
          </a:p>
        </p:txBody>
      </p:sp>
      <p:sp>
        <p:nvSpPr>
          <p:cNvPr id="124" name="Google Shape;124;p16"/>
          <p:cNvSpPr/>
          <p:nvPr/>
        </p:nvSpPr>
        <p:spPr>
          <a:xfrm>
            <a:off x="4125278" y="5419249"/>
            <a:ext cx="3048119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"/>
              <a:buNone/>
            </a:pPr>
            <a:r>
              <a:rPr b="0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Seamless pairing with Apple devices delivers a frictionless, familiar experience for the core customer base.</a:t>
            </a:r>
            <a:endParaRPr b="0" i="0" sz="1750" u="none" cap="none" strike="noStrike"/>
          </a:p>
        </p:txBody>
      </p:sp>
      <p:pic>
        <p:nvPicPr>
          <p:cNvPr descr="preencoded.png" id="125" name="Google Shape;12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56884" y="3198495"/>
            <a:ext cx="1767840" cy="1092518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/>
          <p:nvPr/>
        </p:nvSpPr>
        <p:spPr>
          <a:xfrm>
            <a:off x="7456884" y="4574500"/>
            <a:ext cx="3048119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2200"/>
              <a:buFont typeface="Montserrat"/>
              <a:buNone/>
            </a:pPr>
            <a:r>
              <a:rPr b="0" i="0" lang="en-US" sz="2200" u="none" cap="none" strike="noStrike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Premium Design &amp; Build</a:t>
            </a:r>
            <a:endParaRPr b="0" i="0" sz="2200" u="none" cap="none" strike="noStrike"/>
          </a:p>
        </p:txBody>
      </p:sp>
      <p:sp>
        <p:nvSpPr>
          <p:cNvPr id="127" name="Google Shape;127;p16"/>
          <p:cNvSpPr/>
          <p:nvPr/>
        </p:nvSpPr>
        <p:spPr>
          <a:xfrm>
            <a:off x="7456884" y="5419249"/>
            <a:ext cx="3048119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"/>
              <a:buNone/>
            </a:pPr>
            <a:r>
              <a:rPr b="0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Distinctive aesthetic and quality construction strengthen brand perception and justify premium positioning.</a:t>
            </a:r>
            <a:endParaRPr b="0" i="0" sz="1750" u="none" cap="none" strike="noStrike"/>
          </a:p>
        </p:txBody>
      </p:sp>
      <p:pic>
        <p:nvPicPr>
          <p:cNvPr descr="preencoded.png" id="128" name="Google Shape;12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88491" y="3198495"/>
            <a:ext cx="1767840" cy="109251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/>
          <p:nvPr/>
        </p:nvSpPr>
        <p:spPr>
          <a:xfrm>
            <a:off x="10788491" y="4574500"/>
            <a:ext cx="291453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2200"/>
              <a:buFont typeface="Montserrat"/>
              <a:buNone/>
            </a:pPr>
            <a:r>
              <a:rPr b="0" i="0" lang="en-US" sz="2200" u="none" cap="none" strike="noStrike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Versatile Feature Set</a:t>
            </a:r>
            <a:endParaRPr b="0" i="0" sz="2200" u="none" cap="none" strike="noStrike"/>
          </a:p>
        </p:txBody>
      </p:sp>
      <p:sp>
        <p:nvSpPr>
          <p:cNvPr id="130" name="Google Shape;130;p16"/>
          <p:cNvSpPr/>
          <p:nvPr/>
        </p:nvSpPr>
        <p:spPr>
          <a:xfrm>
            <a:off x="10788491" y="5064919"/>
            <a:ext cx="3048119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"/>
              <a:buNone/>
            </a:pPr>
            <a:r>
              <a:rPr b="0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Speakerphone capability and USB-C audio add practical daily value beyond basic playback.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/>
          <p:nvPr/>
        </p:nvSpPr>
        <p:spPr>
          <a:xfrm>
            <a:off x="689134" y="685800"/>
            <a:ext cx="2880479" cy="307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Product Improvements</a:t>
            </a:r>
            <a:endParaRPr b="0" i="0" sz="1900" u="none" cap="none" strike="noStrike"/>
          </a:p>
        </p:txBody>
      </p:sp>
      <p:sp>
        <p:nvSpPr>
          <p:cNvPr id="137" name="Google Shape;137;p17"/>
          <p:cNvSpPr/>
          <p:nvPr/>
        </p:nvSpPr>
        <p:spPr>
          <a:xfrm>
            <a:off x="689134" y="1061680"/>
            <a:ext cx="13252133" cy="1230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75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3850"/>
              <a:buFont typeface="Montserrat"/>
              <a:buNone/>
            </a:pPr>
            <a:r>
              <a:rPr lang="en-US" sz="385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Four</a:t>
            </a:r>
            <a:r>
              <a:rPr b="0" i="0" lang="en-US" sz="3850" u="none" cap="none" strike="noStrik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 Improvements Needed to Match Category Leaders</a:t>
            </a:r>
            <a:endParaRPr b="0" i="0" sz="3850" u="none" cap="none" strike="noStrike"/>
          </a:p>
        </p:txBody>
      </p:sp>
      <p:sp>
        <p:nvSpPr>
          <p:cNvPr id="138" name="Google Shape;138;p17"/>
          <p:cNvSpPr/>
          <p:nvPr/>
        </p:nvSpPr>
        <p:spPr>
          <a:xfrm>
            <a:off x="689134" y="2548652"/>
            <a:ext cx="13252133" cy="294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550"/>
              <a:buFont typeface="Heebo"/>
              <a:buNone/>
            </a:pPr>
            <a:r>
              <a:rPr b="0" i="0" lang="en-US" sz="15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Customer feedback consistently identifies these gaps as the most important barriers to closing the distance with JBL.</a:t>
            </a:r>
            <a:endParaRPr b="0" i="0" sz="1550" u="none" cap="none" strike="noStrike"/>
          </a:p>
        </p:txBody>
      </p:sp>
      <p:sp>
        <p:nvSpPr>
          <p:cNvPr id="139" name="Google Shape;139;p17"/>
          <p:cNvSpPr/>
          <p:nvPr/>
        </p:nvSpPr>
        <p:spPr>
          <a:xfrm>
            <a:off x="689134" y="3035141"/>
            <a:ext cx="6540579" cy="2168843"/>
          </a:xfrm>
          <a:prstGeom prst="roundRect">
            <a:avLst>
              <a:gd fmla="val 3813" name="adj"/>
            </a:avLst>
          </a:prstGeom>
          <a:solidFill>
            <a:srgbClr val="31136C"/>
          </a:solidFill>
          <a:ln cap="flat" cmpd="sng" w="9525">
            <a:solidFill>
              <a:srgbClr val="4A2C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3564" y="3239572"/>
            <a:ext cx="590669" cy="5906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965" y="3401973"/>
            <a:ext cx="265748" cy="265747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/>
          <p:nvPr/>
        </p:nvSpPr>
        <p:spPr>
          <a:xfrm>
            <a:off x="893564" y="4001095"/>
            <a:ext cx="2461498" cy="307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EQ &amp; App Control</a:t>
            </a:r>
            <a:endParaRPr b="0" i="0" sz="1900" u="none" cap="none" strike="noStrike"/>
          </a:p>
        </p:txBody>
      </p:sp>
      <p:sp>
        <p:nvSpPr>
          <p:cNvPr id="143" name="Google Shape;143;p17"/>
          <p:cNvSpPr/>
          <p:nvPr/>
        </p:nvSpPr>
        <p:spPr>
          <a:xfrm>
            <a:off x="893564" y="4411147"/>
            <a:ext cx="6131719" cy="588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550"/>
              <a:buFont typeface="Heebo"/>
              <a:buNone/>
            </a:pPr>
            <a:r>
              <a:rPr b="0" i="0" lang="en-US" sz="15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No dedicated companion app limits sound customization. Users want control over their listening profile.</a:t>
            </a:r>
            <a:endParaRPr b="0" i="0" sz="1550" u="none" cap="none" strike="noStrike"/>
          </a:p>
        </p:txBody>
      </p:sp>
      <p:sp>
        <p:nvSpPr>
          <p:cNvPr id="144" name="Google Shape;144;p17"/>
          <p:cNvSpPr/>
          <p:nvPr/>
        </p:nvSpPr>
        <p:spPr>
          <a:xfrm>
            <a:off x="7400568" y="3035141"/>
            <a:ext cx="6540698" cy="2168843"/>
          </a:xfrm>
          <a:prstGeom prst="roundRect">
            <a:avLst>
              <a:gd fmla="val 3813" name="adj"/>
            </a:avLst>
          </a:prstGeom>
          <a:solidFill>
            <a:srgbClr val="31136C"/>
          </a:solidFill>
          <a:ln cap="flat" cmpd="sng" w="9525">
            <a:solidFill>
              <a:srgbClr val="4A2C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5" name="Google Shape;14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04998" y="3239572"/>
            <a:ext cx="590669" cy="5906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6" name="Google Shape;14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67399" y="3401973"/>
            <a:ext cx="265748" cy="26574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/>
          <p:nvPr/>
        </p:nvSpPr>
        <p:spPr>
          <a:xfrm>
            <a:off x="7604998" y="4001095"/>
            <a:ext cx="2687479" cy="307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High-Volume Stability</a:t>
            </a:r>
            <a:endParaRPr b="0" i="0" sz="1900" u="none" cap="none" strike="noStrike"/>
          </a:p>
        </p:txBody>
      </p:sp>
      <p:sp>
        <p:nvSpPr>
          <p:cNvPr id="148" name="Google Shape;148;p17"/>
          <p:cNvSpPr/>
          <p:nvPr/>
        </p:nvSpPr>
        <p:spPr>
          <a:xfrm>
            <a:off x="7604998" y="4411147"/>
            <a:ext cx="6131838" cy="588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550"/>
              <a:buFont typeface="Heebo"/>
              <a:buNone/>
            </a:pPr>
            <a:r>
              <a:rPr b="0" i="0" lang="en-US" sz="15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Bass distortion at maximum volume reduces perceived audio quality — a direct comparison point vs. JBL.</a:t>
            </a:r>
            <a:endParaRPr b="0" i="0" sz="1550" u="none" cap="none" strike="noStrike"/>
          </a:p>
        </p:txBody>
      </p:sp>
      <p:sp>
        <p:nvSpPr>
          <p:cNvPr id="149" name="Google Shape;149;p17"/>
          <p:cNvSpPr/>
          <p:nvPr/>
        </p:nvSpPr>
        <p:spPr>
          <a:xfrm>
            <a:off x="689134" y="5374838"/>
            <a:ext cx="6540579" cy="2168843"/>
          </a:xfrm>
          <a:prstGeom prst="roundRect">
            <a:avLst>
              <a:gd fmla="val 3813" name="adj"/>
            </a:avLst>
          </a:prstGeom>
          <a:solidFill>
            <a:srgbClr val="31136C"/>
          </a:solidFill>
          <a:ln cap="flat" cmpd="sng" w="9525">
            <a:solidFill>
              <a:srgbClr val="4A2C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0" name="Google Shape;15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3564" y="5579269"/>
            <a:ext cx="590669" cy="5906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1" name="Google Shape;15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5965" y="5741670"/>
            <a:ext cx="265748" cy="26574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/>
          <p:nvPr/>
        </p:nvSpPr>
        <p:spPr>
          <a:xfrm>
            <a:off x="893564" y="6340793"/>
            <a:ext cx="2461498" cy="307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Battery Reliability</a:t>
            </a:r>
            <a:endParaRPr b="0" i="0" sz="1900" u="none" cap="none" strike="noStrike"/>
          </a:p>
        </p:txBody>
      </p:sp>
      <p:sp>
        <p:nvSpPr>
          <p:cNvPr id="153" name="Google Shape;153;p17"/>
          <p:cNvSpPr/>
          <p:nvPr/>
        </p:nvSpPr>
        <p:spPr>
          <a:xfrm>
            <a:off x="893564" y="6750844"/>
            <a:ext cx="6131719" cy="588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550"/>
              <a:buFont typeface="Heebo"/>
              <a:buNone/>
            </a:pPr>
            <a:r>
              <a:rPr b="0" i="0" lang="en-US" sz="15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Performance inconsistency under heavy use erodes trust. Real-world reliability must match spec-sheet claims.</a:t>
            </a:r>
            <a:endParaRPr b="0" i="0" sz="1550" u="none" cap="none" strike="noStrike"/>
          </a:p>
        </p:txBody>
      </p:sp>
      <p:sp>
        <p:nvSpPr>
          <p:cNvPr id="154" name="Google Shape;154;p17"/>
          <p:cNvSpPr/>
          <p:nvPr/>
        </p:nvSpPr>
        <p:spPr>
          <a:xfrm>
            <a:off x="7400568" y="5374838"/>
            <a:ext cx="6540698" cy="2168843"/>
          </a:xfrm>
          <a:prstGeom prst="roundRect">
            <a:avLst>
              <a:gd fmla="val 3813" name="adj"/>
            </a:avLst>
          </a:prstGeom>
          <a:solidFill>
            <a:srgbClr val="31136C"/>
          </a:solidFill>
          <a:ln cap="flat" cmpd="sng" w="9525">
            <a:solidFill>
              <a:srgbClr val="4A2C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5" name="Google Shape;15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04998" y="5579269"/>
            <a:ext cx="590669" cy="5906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6" name="Google Shape;156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67399" y="5741670"/>
            <a:ext cx="265748" cy="265747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/>
          <p:nvPr/>
        </p:nvSpPr>
        <p:spPr>
          <a:xfrm>
            <a:off x="7604998" y="6340793"/>
            <a:ext cx="2461498" cy="307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Connectivity Polish</a:t>
            </a:r>
            <a:endParaRPr b="0" i="0" sz="1900" u="none" cap="none" strike="noStrike"/>
          </a:p>
        </p:txBody>
      </p:sp>
      <p:sp>
        <p:nvSpPr>
          <p:cNvPr id="158" name="Google Shape;158;p17"/>
          <p:cNvSpPr/>
          <p:nvPr/>
        </p:nvSpPr>
        <p:spPr>
          <a:xfrm>
            <a:off x="7604998" y="6750844"/>
            <a:ext cx="6131838" cy="588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550"/>
              <a:buFont typeface="Heebo"/>
              <a:buNone/>
            </a:pPr>
            <a:r>
              <a:rPr b="0" i="0" lang="en-US" sz="15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Minor multi-device switching issues create friction. Seamless connectivity is table stakes for premium buyers.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/>
          <p:nvPr/>
        </p:nvSpPr>
        <p:spPr>
          <a:xfrm>
            <a:off x="9404199" y="121623"/>
            <a:ext cx="1656000" cy="1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1100"/>
              <a:buFont typeface="Montserrat"/>
              <a:buNone/>
            </a:pPr>
            <a:r>
              <a:rPr b="0" i="0" lang="en-US" u="none" cap="none" strike="noStrik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Launch Strategy</a:t>
            </a:r>
            <a:endParaRPr b="0" i="0" u="none" cap="none" strike="noStrike"/>
          </a:p>
        </p:txBody>
      </p:sp>
      <p:sp>
        <p:nvSpPr>
          <p:cNvPr id="166" name="Google Shape;166;p18"/>
          <p:cNvSpPr/>
          <p:nvPr/>
        </p:nvSpPr>
        <p:spPr>
          <a:xfrm>
            <a:off x="6041946" y="536138"/>
            <a:ext cx="8032909" cy="72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2250"/>
              <a:buFont typeface="Montserrat"/>
              <a:buNone/>
            </a:pPr>
            <a:r>
              <a:rPr b="0" i="0" lang="en-US" sz="2150" u="none" cap="none" strike="noStrik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Target the Apple Lifestyle Consumer with a Competitive Premium Position</a:t>
            </a:r>
            <a:endParaRPr b="0" i="0" sz="2150" u="none" cap="none" strike="noStrike"/>
          </a:p>
        </p:txBody>
      </p:sp>
      <p:pic>
        <p:nvPicPr>
          <p:cNvPr descr="preencoded.png" id="167" name="Google Shape;16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6706" y="1337905"/>
            <a:ext cx="30480" cy="57690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/>
          <p:nvPr/>
        </p:nvSpPr>
        <p:spPr>
          <a:xfrm>
            <a:off x="6188750" y="1354499"/>
            <a:ext cx="1455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100"/>
              <a:buFont typeface="Montserrat"/>
              <a:buNone/>
            </a:pPr>
            <a:r>
              <a:rPr b="0" i="0" lang="en-US" sz="1200" u="none" cap="none" strike="noStrike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Target Audience</a:t>
            </a:r>
            <a:endParaRPr b="0" i="0" sz="1200" u="none" cap="none" strike="noStrike"/>
          </a:p>
        </p:txBody>
      </p:sp>
      <p:sp>
        <p:nvSpPr>
          <p:cNvPr id="169" name="Google Shape;169;p18"/>
          <p:cNvSpPr/>
          <p:nvPr/>
        </p:nvSpPr>
        <p:spPr>
          <a:xfrm>
            <a:off x="6188750" y="1591483"/>
            <a:ext cx="38322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900"/>
              <a:buFont typeface="Heebo"/>
              <a:buNone/>
            </a:pPr>
            <a:r>
              <a:rPr b="0" i="0" lang="en-US" sz="100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Young, tech-savvy Apple ecosystem users seeking portable audio for travel and social use.</a:t>
            </a:r>
            <a:endParaRPr b="0" i="0" sz="1000" u="none" cap="none" strike="noStrike"/>
          </a:p>
        </p:txBody>
      </p:sp>
      <p:pic>
        <p:nvPicPr>
          <p:cNvPr descr="preencoded.png" id="170" name="Google Shape;17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80427" y="1337905"/>
            <a:ext cx="30480" cy="5769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/>
          <p:nvPr/>
        </p:nvSpPr>
        <p:spPr>
          <a:xfrm>
            <a:off x="10242471" y="1354499"/>
            <a:ext cx="1455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100"/>
              <a:buFont typeface="Montserrat"/>
              <a:buNone/>
            </a:pPr>
            <a:r>
              <a:rPr b="0" i="0" lang="en-US" sz="1100" u="none" cap="none" strike="noStrike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Pricing: $149–$199</a:t>
            </a:r>
            <a:endParaRPr b="0" i="0" sz="1100" u="none" cap="none" strike="noStrike"/>
          </a:p>
        </p:txBody>
      </p:sp>
      <p:sp>
        <p:nvSpPr>
          <p:cNvPr id="172" name="Google Shape;172;p18"/>
          <p:cNvSpPr/>
          <p:nvPr/>
        </p:nvSpPr>
        <p:spPr>
          <a:xfrm>
            <a:off x="10242471" y="1591483"/>
            <a:ext cx="38325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900"/>
              <a:buFont typeface="Heebo"/>
              <a:buNone/>
            </a:pPr>
            <a:r>
              <a:rPr b="0" i="0" lang="en-US" sz="90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Competitive with top rivals while maintaining Beats' premium brand positioning.</a:t>
            </a:r>
            <a:endParaRPr b="0" i="0" sz="1000" u="none" cap="none" strike="noStrike"/>
          </a:p>
        </p:txBody>
      </p:sp>
      <p:pic>
        <p:nvPicPr>
          <p:cNvPr descr="preencoded.png" id="173" name="Google Shape;17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6706" y="2011649"/>
            <a:ext cx="30480" cy="42353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/>
          <p:nvPr/>
        </p:nvSpPr>
        <p:spPr>
          <a:xfrm>
            <a:off x="6188750" y="2028243"/>
            <a:ext cx="1455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100"/>
              <a:buFont typeface="Montserrat"/>
              <a:buNone/>
            </a:pPr>
            <a:r>
              <a:rPr b="0" i="0" lang="en-US" sz="1100" u="none" cap="none" strike="noStrike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Go-to-Market</a:t>
            </a:r>
            <a:endParaRPr b="0" i="0" sz="1100" u="none" cap="none" strike="noStrike"/>
          </a:p>
        </p:txBody>
      </p:sp>
      <p:sp>
        <p:nvSpPr>
          <p:cNvPr id="175" name="Google Shape;175;p18"/>
          <p:cNvSpPr/>
          <p:nvPr/>
        </p:nvSpPr>
        <p:spPr>
          <a:xfrm>
            <a:off x="6188750" y="2265226"/>
            <a:ext cx="7886100" cy="1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900"/>
              <a:buFont typeface="Heebo"/>
              <a:buNone/>
            </a:pPr>
            <a:r>
              <a:rPr b="0" i="0" lang="en-US" sz="90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Strategic retail placement, digital channels, and influencer-led lifestyle campaigns.</a:t>
            </a:r>
            <a:endParaRPr b="0" i="0" sz="900" u="none" cap="none" strike="noStrike"/>
          </a:p>
        </p:txBody>
      </p:sp>
      <p:sp>
        <p:nvSpPr>
          <p:cNvPr id="176" name="Google Shape;176;p18"/>
          <p:cNvSpPr/>
          <p:nvPr/>
        </p:nvSpPr>
        <p:spPr>
          <a:xfrm>
            <a:off x="6041946" y="2455718"/>
            <a:ext cx="8032909" cy="22146"/>
          </a:xfrm>
          <a:prstGeom prst="rect">
            <a:avLst/>
          </a:prstGeom>
          <a:solidFill>
            <a:srgbClr val="DCD7E5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6041951" y="2567350"/>
            <a:ext cx="35385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1350"/>
              <a:buFont typeface="Montserrat"/>
              <a:buNone/>
            </a:pPr>
            <a:r>
              <a:rPr b="0" i="0" lang="en-US" sz="1550" u="none" cap="none" strike="noStrik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Launch Phase Strategic Impact</a:t>
            </a:r>
            <a:endParaRPr b="0" i="0" sz="1550" u="none" cap="none" strike="noStrike"/>
          </a:p>
        </p:txBody>
      </p:sp>
      <p:pic>
        <p:nvPicPr>
          <p:cNvPr descr="preencoded.png" id="178" name="Google Shape;17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2293" y="3162775"/>
            <a:ext cx="7026744" cy="43946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6240835" y="5145562"/>
            <a:ext cx="1656150" cy="555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Pricing &amp; Position</a:t>
            </a:r>
            <a:endParaRPr b="0" i="0" sz="1700" u="none" cap="none" strike="noStrike"/>
          </a:p>
        </p:txBody>
      </p:sp>
      <p:sp>
        <p:nvSpPr>
          <p:cNvPr id="180" name="Google Shape;180;p18"/>
          <p:cNvSpPr/>
          <p:nvPr/>
        </p:nvSpPr>
        <p:spPr>
          <a:xfrm>
            <a:off x="9229953" y="7269523"/>
            <a:ext cx="1656150" cy="555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Launch Channels</a:t>
            </a:r>
            <a:endParaRPr b="0" i="0" sz="1700" u="none" cap="none" strike="noStrike"/>
          </a:p>
        </p:txBody>
      </p:sp>
      <p:sp>
        <p:nvSpPr>
          <p:cNvPr id="181" name="Google Shape;181;p18"/>
          <p:cNvSpPr/>
          <p:nvPr/>
        </p:nvSpPr>
        <p:spPr>
          <a:xfrm>
            <a:off x="12219533" y="5144483"/>
            <a:ext cx="1656150" cy="555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Product Improvements</a:t>
            </a:r>
            <a:endParaRPr b="0" i="0" sz="1700" u="none" cap="none" strike="noStrike"/>
          </a:p>
        </p:txBody>
      </p:sp>
      <p:sp>
        <p:nvSpPr>
          <p:cNvPr id="182" name="Google Shape;182;p18"/>
          <p:cNvSpPr/>
          <p:nvPr/>
        </p:nvSpPr>
        <p:spPr>
          <a:xfrm>
            <a:off x="9229953" y="2949287"/>
            <a:ext cx="1656150" cy="555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Target Audience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